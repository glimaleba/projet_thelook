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des lignes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A2226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Shipped</c:v>
                </c:pt>
                <c:pt idx="1">
                  <c:v>Complete</c:v>
                </c:pt>
                <c:pt idx="2">
                  <c:v>Processing</c:v>
                </c:pt>
                <c:pt idx="3">
                  <c:v>Cancelled</c:v>
                </c:pt>
                <c:pt idx="4">
                  <c:v>Returned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29.6</c:v>
                </c:pt>
                <c:pt idx="1">
                  <c:v>25.3</c:v>
                </c:pt>
                <c:pt idx="2">
                  <c:v>18.2</c:v>
                </c:pt>
                <c:pt idx="3">
                  <c:v>14.3</c:v>
                </c:pt>
                <c:pt idx="4">
                  <c:v>12.6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F7-4DFA-822C-EEEAEB73DE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2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31750" cap="flat">
              <a:solidFill>
                <a:srgbClr val="A267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26769"/>
              </a:solidFill>
              <a:ln w="9525" cap="flat">
                <a:solidFill>
                  <a:srgbClr val="A26769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  <c:pt idx="6">
                  <c:v>Juil</c:v>
                </c:pt>
                <c:pt idx="7">
                  <c:v>Août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Déc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375.6</c:v>
                </c:pt>
                <c:pt idx="1">
                  <c:v>259.60000000000002</c:v>
                </c:pt>
                <c:pt idx="2">
                  <c:v>299.10000000000002</c:v>
                </c:pt>
                <c:pt idx="3">
                  <c:v>423.3</c:v>
                </c:pt>
                <c:pt idx="4">
                  <c:v>938.8</c:v>
                </c:pt>
                <c:pt idx="5">
                  <c:v>470.2</c:v>
                </c:pt>
                <c:pt idx="6">
                  <c:v>215</c:v>
                </c:pt>
                <c:pt idx="7">
                  <c:v>663.2</c:v>
                </c:pt>
                <c:pt idx="8">
                  <c:v>1486.1</c:v>
                </c:pt>
                <c:pt idx="9">
                  <c:v>1049.9000000000001</c:v>
                </c:pt>
                <c:pt idx="10">
                  <c:v>718.6</c:v>
                </c:pt>
                <c:pt idx="11">
                  <c:v>882.1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E1-4B1F-AB2E-C376064E2C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31750" cap="flat">
              <a:solidFill>
                <a:srgbClr val="6D2E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D2E46"/>
              </a:solidFill>
              <a:ln w="9525" cap="flat">
                <a:solidFill>
                  <a:srgbClr val="6D2E4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  <c:pt idx="6">
                  <c:v>Juil</c:v>
                </c:pt>
                <c:pt idx="7">
                  <c:v>Août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Déc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945.7</c:v>
                </c:pt>
                <c:pt idx="1">
                  <c:v>771.4</c:v>
                </c:pt>
                <c:pt idx="2">
                  <c:v>1108.8</c:v>
                </c:pt>
                <c:pt idx="3">
                  <c:v>926.5</c:v>
                </c:pt>
                <c:pt idx="4">
                  <c:v>985.3</c:v>
                </c:pt>
                <c:pt idx="5">
                  <c:v>1566.4</c:v>
                </c:pt>
                <c:pt idx="6">
                  <c:v>991.8</c:v>
                </c:pt>
                <c:pt idx="7">
                  <c:v>1331.1</c:v>
                </c:pt>
                <c:pt idx="8">
                  <c:v>1547.7</c:v>
                </c:pt>
                <c:pt idx="9">
                  <c:v>2607</c:v>
                </c:pt>
                <c:pt idx="10">
                  <c:v>1002</c:v>
                </c:pt>
                <c:pt idx="11">
                  <c:v>1883.4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E1-4B1F-AB2E-C376064E2C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A22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2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A222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(€)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2226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Outerwear &amp; Coats</c:v>
                </c:pt>
                <c:pt idx="1">
                  <c:v>Intimates</c:v>
                </c:pt>
                <c:pt idx="2">
                  <c:v>Jeans</c:v>
                </c:pt>
                <c:pt idx="3">
                  <c:v>Sweaters</c:v>
                </c:pt>
                <c:pt idx="4">
                  <c:v>Hoodies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3148</c:v>
                </c:pt>
                <c:pt idx="1">
                  <c:v>2259</c:v>
                </c:pt>
                <c:pt idx="2">
                  <c:v>2024</c:v>
                </c:pt>
                <c:pt idx="3">
                  <c:v>1827</c:v>
                </c:pt>
                <c:pt idx="4">
                  <c:v>1785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CA-4866-92DC-0D53976920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A22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(€)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2226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The North Face</c:v>
                </c:pt>
                <c:pt idx="1">
                  <c:v>PAIGE</c:v>
                </c:pt>
                <c:pt idx="2">
                  <c:v>Arc'teryx</c:v>
                </c:pt>
                <c:pt idx="3">
                  <c:v>Jones New York</c:v>
                </c:pt>
                <c:pt idx="4">
                  <c:v>Ray-Ban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1211</c:v>
                </c:pt>
                <c:pt idx="1">
                  <c:v>801</c:v>
                </c:pt>
                <c:pt idx="2">
                  <c:v>620</c:v>
                </c:pt>
                <c:pt idx="3">
                  <c:v>517</c:v>
                </c:pt>
                <c:pt idx="4">
                  <c:v>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E7-4A58-A3E6-16594971F5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A22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(€)</c:v>
                </c:pt>
              </c:strCache>
            </c:strRef>
          </c:tx>
          <c:spPr>
            <a:solidFill>
              <a:srgbClr val="4A1F3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2226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Paris</c:v>
                </c:pt>
                <c:pt idx="1">
                  <c:v>Locon</c:v>
                </c:pt>
                <c:pt idx="2">
                  <c:v>Vandœuvre-lès-Nancy</c:v>
                </c:pt>
                <c:pt idx="3">
                  <c:v>Lyon</c:v>
                </c:pt>
                <c:pt idx="4">
                  <c:v>Brignoles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950</c:v>
                </c:pt>
                <c:pt idx="1">
                  <c:v>903</c:v>
                </c:pt>
                <c:pt idx="2">
                  <c:v>823</c:v>
                </c:pt>
                <c:pt idx="3">
                  <c:v>536</c:v>
                </c:pt>
                <c:pt idx="4">
                  <c:v>510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5-418F-8B13-533816D056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A22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retour (%)</c:v>
                </c:pt>
              </c:strCache>
            </c:strRef>
          </c:tx>
          <c:spPr>
            <a:solidFill>
              <a:srgbClr val="B053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A34-4A1F-B4B5-18B93E9B2697}"/>
              </c:ext>
            </c:extLst>
          </c:dPt>
          <c:dPt>
            <c:idx val="1"/>
            <c:invertIfNegative val="0"/>
            <c:bubble3D val="0"/>
            <c:spPr>
              <a:solidFill>
                <a:srgbClr val="3C7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34-4A1F-B4B5-18B93E9B2697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38.03</c:v>
                </c:pt>
                <c:pt idx="1">
                  <c:v>30.5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34-4A1F-B4B5-18B93E9B269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22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ré-achat (%)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9F6-4037-BD20-8696700BA183}"/>
              </c:ext>
            </c:extLst>
          </c:dPt>
          <c:dPt>
            <c:idx val="1"/>
            <c:invertIfNegative val="0"/>
            <c:bubble3D val="0"/>
            <c:spPr>
              <a:solidFill>
                <a:srgbClr val="3C7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9F6-4037-BD20-8696700BA183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2A2226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3.41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9F6-4037-BD20-8696700BA1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22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447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4A1F30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-2011680"/>
            <a:ext cx="5943600" cy="59436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0" y="5120640"/>
            <a:ext cx="4114800" cy="411480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DE FORMATION — DATA ANALYST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&amp; analyse de la performance e-commerce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TheLook Europe — France · Département Women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2023 – 2024 : chiffre d'affaires, marge, panier moyen, retours et ré-achat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926080" cy="0"/>
          </a:xfrm>
          <a:prstGeom prst="line">
            <a:avLst/>
          </a:prstGeom>
          <a:noFill/>
          <a:ln w="2540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091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(EDA)  →  SQL BigQuery (validation)  →  Power BI (restitution)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LIMALEBA Germain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</a:t>
            </a: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Analyst — Centre DATAGONG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011680" cy="0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39496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3230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243230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Périmètre, objectifs &amp; KPI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539496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35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303580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méthodologique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84448"/>
            <a:ext cx="539496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393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363931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contrôle qualité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187952"/>
            <a:ext cx="539496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4281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24281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(statuts, prix)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791456"/>
            <a:ext cx="539496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46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48463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annuels 2023 vs 2024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1828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Saisonnalité mensuelle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2377440"/>
            <a:ext cx="539496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43230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95160" y="243230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contributeurs (marques, catégories, villes)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09360" y="2980944"/>
            <a:ext cx="539496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035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95160" y="303580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&amp; ré-achat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09360" y="3584448"/>
            <a:ext cx="539496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6393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95160" y="363931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Power BI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09360" y="4187952"/>
            <a:ext cx="539496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24281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95160" y="424281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Opportunités, risques &amp; recommandations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09360" y="4791456"/>
            <a:ext cx="539496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846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995160" y="48463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Notes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que Data Analyst, la mission consiste à fournir une étude comparative de la performance e-commerce de TheLook Europe, sur le périmètre France — Département Women — années 2023 et 2024.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320040" cy="3200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960120" y="332841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ont évolué les ventes entre 2023 et 2024 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320040" cy="3200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960120" y="392277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produits, marques et villes portent la performance 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320040" cy="3200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72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960120" y="451713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retours et le comportement de ré-achat évoluent-ils favorablement 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5166360"/>
            <a:ext cx="320040" cy="3200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5166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960120" y="511149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actions concrètes recommander à la direction e-commerce 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589520" y="187452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F7F2EA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ANALYTIQUE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2651760"/>
            <a:ext cx="457200" cy="45720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4964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Python — qualité &amp; tendances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55280" y="3429000"/>
            <a:ext cx="457200" cy="45720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49640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SQL — BigQuery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55280" y="4206240"/>
            <a:ext cx="457200" cy="45720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4964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— Power BI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55280" y="507492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final : éclairer les décisions du management e-commerce à partir de données fiabilisées.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Périmètre, objectifs &amp; KPI retenus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480560" cy="2331720"/>
          </a:xfrm>
          <a:prstGeom prst="roundRect">
            <a:avLst>
              <a:gd name="adj" fmla="val 3922"/>
            </a:avLst>
          </a:prstGeom>
          <a:solidFill>
            <a:srgbClr val="F7F2E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DE L'ÉTUDE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28600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8600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8600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01/01/2023 → 31/12/2024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vérité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8600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bigquery-public-data.thelook_ecommerce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4480560" cy="1737360"/>
          </a:xfrm>
          <a:prstGeom prst="roundRect">
            <a:avLst>
              <a:gd name="adj" fmla="val 5263"/>
            </a:avLst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5262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« COMPLETE » = vente réalisée retenue pour le CA, la marge et le panier moyen.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mesurés sur Complete + Returned.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578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SUIVIS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57800" y="2313432"/>
            <a:ext cx="128016" cy="12801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22402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— Σ sale_price (Complete)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257800" y="2788920"/>
            <a:ext cx="128016" cy="12801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271576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 — Σ (sale_price − cost)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257800" y="3264408"/>
            <a:ext cx="128016" cy="12801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319125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 — CA / commandes distinctes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257800" y="3739896"/>
            <a:ext cx="128016" cy="12801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5" name="Text 23"/>
          <p:cNvSpPr/>
          <p:nvPr/>
        </p:nvSpPr>
        <p:spPr>
          <a:xfrm>
            <a:off x="5532120" y="366674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retour — Returned / (Complete+Returned)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257800" y="4215384"/>
            <a:ext cx="128016" cy="12801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7" name="Text 25"/>
          <p:cNvSpPr/>
          <p:nvPr/>
        </p:nvSpPr>
        <p:spPr>
          <a:xfrm>
            <a:off x="5532120" y="414223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ré-achat — clients ≥2 commandes / an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257800" y="4709160"/>
            <a:ext cx="6446520" cy="1371600"/>
          </a:xfrm>
          <a:prstGeom prst="roundRect">
            <a:avLst>
              <a:gd name="adj" fmla="val 6667"/>
            </a:avLst>
          </a:prstGeom>
          <a:solidFill>
            <a:srgbClr val="F7F2EA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4892040"/>
            <a:ext cx="5897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temporelle : la date de référence pour la performance commerciale est delivered_at. Les contrôles qualité portent sur l'ensemble des dates, sans suppression arbitraire des anomalies.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démarche en trois étapes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7F2E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23160"/>
            <a:ext cx="685800" cy="6858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Python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du CSV, dictionnaire de données, contrôle qualité, distributions, contributions et saisonnalité.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95928" y="3703320"/>
            <a:ext cx="274320" cy="320040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21031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7F2EA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2423160"/>
            <a:ext cx="685800" cy="68580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SQL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72000" y="38404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 des KPI dans BigQuery sur la source de vérité pour fiabiliser les résultats de l'EDA.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36408" y="3703320"/>
            <a:ext cx="274320" cy="320040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21031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7F2EA"/>
          </a:solidFill>
          <a:ln/>
        </p:spPr>
      </p:sp>
      <p:sp>
        <p:nvSpPr>
          <p:cNvPr id="18" name="Shape 16"/>
          <p:cNvSpPr/>
          <p:nvPr/>
        </p:nvSpPr>
        <p:spPr>
          <a:xfrm>
            <a:off x="8458200" y="2423160"/>
            <a:ext cx="685800" cy="685800"/>
          </a:xfrm>
          <a:prstGeom prst="ellipse">
            <a:avLst/>
          </a:prstGeom>
          <a:solidFill>
            <a:srgbClr val="4A1F30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841248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12480" y="38404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interactive : suivi des KPI, comparaison 2023/2024, exploration par marque, catégorie et ville.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document présente la première étape (EDA Python) et sa transition vers le tableau de bord Power BI final.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jeu de données &amp; son contrôle qualité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488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1 679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d'articles de commande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3429000"/>
            <a:ext cx="1371600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11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(identifiants, dates, statuts, prix, géographie)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ligne = 1 article de commande (order_item_id)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correspond pas au nombre de commandes.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9768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CONTRÔLES QUALITÉ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2331720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4846320" y="230428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624328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Analysées colonne par colonne (%), documentées sans suppression.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3264408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4846320" y="323697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557016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lignes entièrement dupliquées sur le jeu de données.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4197096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4197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4846320" y="4169664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de dates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448970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colonnes date converties d'object vers datetime (item_created_at, order_created_at, shipped_at, delivered_at).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5129784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0" y="5129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92" dirty="0"/>
          </a:p>
        </p:txBody>
      </p:sp>
      <p:sp>
        <p:nvSpPr>
          <p:cNvPr id="27" name="Text 25"/>
          <p:cNvSpPr/>
          <p:nvPr/>
        </p:nvSpPr>
        <p:spPr>
          <a:xfrm>
            <a:off x="4846320" y="510235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temporelle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542239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croisés : article créé après commande / expédition / livraison ; livraison avant expédition.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97680" y="5989320"/>
            <a:ext cx="7406640" cy="548640"/>
          </a:xfrm>
          <a:prstGeom prst="roundRect">
            <a:avLst>
              <a:gd name="adj" fmla="val 13333"/>
            </a:avLst>
          </a:prstGeom>
          <a:solidFill>
            <a:srgbClr val="F7F2EA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59893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retenu : les anomalies sont documentées, jamais supprimées arbitrairement — traçabilité CSV → Python → SQL → Power BI.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Répartition des statuts des articles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56692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92024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29,6 % des lignes sont Shipped et 25,3 % Complete ; Cancelled + Returned représentent près de 27 % des lignes, un niveau non négligeable d'échecs de vente.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0" y="324612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B0532A"/>
          </a:solidFill>
          <a:ln/>
        </p:spPr>
      </p:sp>
      <p:sp>
        <p:nvSpPr>
          <p:cNvPr id="8" name="Text 5"/>
          <p:cNvSpPr/>
          <p:nvPr/>
        </p:nvSpPr>
        <p:spPr>
          <a:xfrm>
            <a:off x="6629400" y="3383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Point de vigilance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9400" y="37033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catégorie « Clothing Sets » affiche 50 % de taux de retour, avec 0 % en Shipped/Complete : un signal fort à remonter aux équipes métier.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480060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7F2EA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4937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Marques &amp; villes à surveiller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29400" y="52578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marques à 100 % d'annulation (97 ≥ 50 %) · 45 marques à 100 % de retour (79 ≥ 50 %) · 44 villes à 100 % d'annulation, 36 à 100 % de retour.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du prix de vente (lignes Complete)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243584" cy="1234440"/>
          </a:xfrm>
          <a:prstGeom prst="roundRect">
            <a:avLst>
              <a:gd name="adj" fmla="val 6667"/>
            </a:avLst>
          </a:prstGeom>
          <a:solidFill>
            <a:srgbClr val="F7F2E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87452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55,43 €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4228" y="1737360"/>
            <a:ext cx="1243584" cy="1234440"/>
          </a:xfrm>
          <a:prstGeom prst="roundRect">
            <a:avLst>
              <a:gd name="adj" fmla="val 6667"/>
            </a:avLst>
          </a:prstGeom>
          <a:solidFill>
            <a:srgbClr val="F7F2EA"/>
          </a:solidFill>
          <a:ln/>
        </p:spPr>
      </p:sp>
      <p:sp>
        <p:nvSpPr>
          <p:cNvPr id="9" name="Text 7"/>
          <p:cNvSpPr/>
          <p:nvPr/>
        </p:nvSpPr>
        <p:spPr>
          <a:xfrm>
            <a:off x="1778508" y="187452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36,29 €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78508" y="237744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91256" y="1737360"/>
            <a:ext cx="1243584" cy="1234440"/>
          </a:xfrm>
          <a:prstGeom prst="roundRect">
            <a:avLst>
              <a:gd name="adj" fmla="val 6667"/>
            </a:avLst>
          </a:prstGeom>
          <a:solidFill>
            <a:srgbClr val="F7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3145536" y="187452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71,57 €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45536" y="237744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Écart-type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58284" y="1737360"/>
            <a:ext cx="1243584" cy="1234440"/>
          </a:xfrm>
          <a:prstGeom prst="roundRect">
            <a:avLst>
              <a:gd name="adj" fmla="val 6667"/>
            </a:avLst>
          </a:prstGeom>
          <a:solidFill>
            <a:srgbClr val="F7F2EA"/>
          </a:solidFill>
          <a:ln/>
        </p:spPr>
      </p:sp>
      <p:sp>
        <p:nvSpPr>
          <p:cNvPr id="15" name="Text 13"/>
          <p:cNvSpPr/>
          <p:nvPr/>
        </p:nvSpPr>
        <p:spPr>
          <a:xfrm>
            <a:off x="4512564" y="187452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62,50 €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12564" y="237744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(75 %)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25312" y="1737360"/>
            <a:ext cx="1243584" cy="1234440"/>
          </a:xfrm>
          <a:prstGeom prst="roundRect">
            <a:avLst>
              <a:gd name="adj" fmla="val 6667"/>
            </a:avLst>
          </a:prstGeom>
          <a:solidFill>
            <a:srgbClr val="F7F2EA"/>
          </a:solidFill>
          <a:ln/>
        </p:spPr>
      </p:sp>
      <p:sp>
        <p:nvSpPr>
          <p:cNvPr id="18" name="Text 16"/>
          <p:cNvSpPr/>
          <p:nvPr/>
        </p:nvSpPr>
        <p:spPr>
          <a:xfrm>
            <a:off x="5879592" y="187452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903 €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79592" y="237744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6492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moyenne (55,43 €) est nettement supérieure à la médiane (36,29 €) : la distribution est asymétrique à droite, tirée par un petit nombre de ventes très élevées (jusqu'à 903 €). 75 % des ventes restent sous 62,50 €.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6492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méthodologique : le panier moyen doit être lu avec la médiane et les quartiles, la moyenne étant fortement influencée par les valeurs extrêmes. Le même constat s'applique à la variable « cost ».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0" y="1737360"/>
            <a:ext cx="4389120" cy="4206240"/>
          </a:xfrm>
          <a:prstGeom prst="roundRect">
            <a:avLst>
              <a:gd name="adj" fmla="val 2174"/>
            </a:avLst>
          </a:prstGeom>
          <a:solidFill>
            <a:srgbClr val="4A1F30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VISUELLE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0" y="3840480"/>
            <a:ext cx="374904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66760" y="3520440"/>
            <a:ext cx="1263015" cy="640080"/>
          </a:xfrm>
          <a:prstGeom prst="rect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50866" y="3520440"/>
            <a:ext cx="0" cy="6400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20990" y="3840480"/>
            <a:ext cx="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47946" y="4251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36,29 €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66760" y="3246120"/>
            <a:ext cx="1263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995660" y="3611880"/>
            <a:ext cx="91440" cy="91440"/>
          </a:xfrm>
          <a:prstGeom prst="ellipse">
            <a:avLst/>
          </a:prstGeom>
          <a:solidFill>
            <a:srgbClr val="B0532A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5029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extrêmes → jusqu'à 903 €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0" y="5440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(échelle compressée pour lisibilité — boxplot complet disponible dans le notebook)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ANNUELS — 2023 VS 2024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performance en nette progression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157984" cy="3931920"/>
          </a:xfrm>
          <a:prstGeom prst="roundRect">
            <a:avLst>
              <a:gd name="adj" fmla="val 4237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4884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7 781 €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703320"/>
            <a:ext cx="1883664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84048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40690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15 667 €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94360" y="4800600"/>
            <a:ext cx="1883664" cy="502920"/>
          </a:xfrm>
          <a:prstGeom prst="roundRect">
            <a:avLst>
              <a:gd name="adj" fmla="val 14545"/>
            </a:avLst>
          </a:prstGeom>
          <a:solidFill>
            <a:srgbClr val="8BAE8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80060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+101 %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79776" y="1920240"/>
            <a:ext cx="2157984" cy="3931920"/>
          </a:xfrm>
          <a:prstGeom prst="roundRect">
            <a:avLst>
              <a:gd name="adj" fmla="val 4237"/>
            </a:avLst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2916936" y="214884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16936" y="283464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16936" y="30632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4 064 €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2916936" y="3703320"/>
            <a:ext cx="1883664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16936" y="384048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16936" y="40690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8 108 €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916936" y="4800600"/>
            <a:ext cx="1883664" cy="502920"/>
          </a:xfrm>
          <a:prstGeom prst="roundRect">
            <a:avLst>
              <a:gd name="adj" fmla="val 14545"/>
            </a:avLst>
          </a:prstGeom>
          <a:solidFill>
            <a:srgbClr val="8BAE8B"/>
          </a:solidFill>
          <a:ln/>
        </p:spPr>
      </p:sp>
      <p:sp>
        <p:nvSpPr>
          <p:cNvPr id="21" name="Text 19"/>
          <p:cNvSpPr/>
          <p:nvPr/>
        </p:nvSpPr>
        <p:spPr>
          <a:xfrm>
            <a:off x="2916936" y="480060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+100 %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02352" y="1920240"/>
            <a:ext cx="2157984" cy="3931920"/>
          </a:xfrm>
          <a:prstGeom prst="roundRect">
            <a:avLst>
              <a:gd name="adj" fmla="val 4237"/>
            </a:avLst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5239512" y="214884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39512" y="283464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39512" y="30632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5239512" y="3703320"/>
            <a:ext cx="1883664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9512" y="384048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9512" y="40690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239512" y="4800600"/>
            <a:ext cx="1883664" cy="502920"/>
          </a:xfrm>
          <a:prstGeom prst="roundRect">
            <a:avLst>
              <a:gd name="adj" fmla="val 14545"/>
            </a:avLst>
          </a:prstGeom>
          <a:solidFill>
            <a:srgbClr val="8BAE8B"/>
          </a:solidFill>
          <a:ln/>
        </p:spPr>
      </p:sp>
      <p:sp>
        <p:nvSpPr>
          <p:cNvPr id="30" name="Text 28"/>
          <p:cNvSpPr/>
          <p:nvPr/>
        </p:nvSpPr>
        <p:spPr>
          <a:xfrm>
            <a:off x="5239512" y="480060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+91 %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24928" y="1920240"/>
            <a:ext cx="2157984" cy="3931920"/>
          </a:xfrm>
          <a:prstGeom prst="roundRect">
            <a:avLst>
              <a:gd name="adj" fmla="val 4237"/>
            </a:avLst>
          </a:prstGeom>
          <a:solidFill>
            <a:srgbClr val="6D2E46"/>
          </a:solidFill>
          <a:ln/>
        </p:spPr>
      </p:sp>
      <p:sp>
        <p:nvSpPr>
          <p:cNvPr id="32" name="Text 30"/>
          <p:cNvSpPr/>
          <p:nvPr/>
        </p:nvSpPr>
        <p:spPr>
          <a:xfrm>
            <a:off x="7562088" y="214884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62088" y="283464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62088" y="30632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81,06 €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7562088" y="3703320"/>
            <a:ext cx="1883664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62088" y="384048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62088" y="40690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85,61 €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562088" y="4800600"/>
            <a:ext cx="1883664" cy="502920"/>
          </a:xfrm>
          <a:prstGeom prst="roundRect">
            <a:avLst>
              <a:gd name="adj" fmla="val 14545"/>
            </a:avLst>
          </a:prstGeom>
          <a:solidFill>
            <a:srgbClr val="8BAE8B"/>
          </a:solidFill>
          <a:ln/>
        </p:spPr>
      </p:sp>
      <p:sp>
        <p:nvSpPr>
          <p:cNvPr id="39" name="Text 37"/>
          <p:cNvSpPr/>
          <p:nvPr/>
        </p:nvSpPr>
        <p:spPr>
          <a:xfrm>
            <a:off x="7562088" y="480060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+5,6 %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747504" y="1920240"/>
            <a:ext cx="2157984" cy="3931920"/>
          </a:xfrm>
          <a:prstGeom prst="roundRect">
            <a:avLst>
              <a:gd name="adj" fmla="val 4237"/>
            </a:avLst>
          </a:prstGeom>
          <a:solidFill>
            <a:srgbClr val="6D2E46"/>
          </a:solidFill>
          <a:ln/>
        </p:spPr>
      </p:sp>
      <p:sp>
        <p:nvSpPr>
          <p:cNvPr id="41" name="Text 39"/>
          <p:cNvSpPr/>
          <p:nvPr/>
        </p:nvSpPr>
        <p:spPr>
          <a:xfrm>
            <a:off x="9884664" y="214884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RETOUR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884664" y="283464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884664" y="30632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38,03 %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9884664" y="3703320"/>
            <a:ext cx="1883664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84664" y="384048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884664" y="40690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30,50 %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9884664" y="4800600"/>
            <a:ext cx="1883664" cy="502920"/>
          </a:xfrm>
          <a:prstGeom prst="roundRect">
            <a:avLst>
              <a:gd name="adj" fmla="val 14545"/>
            </a:avLst>
          </a:prstGeom>
          <a:solidFill>
            <a:srgbClr val="3C7A5A"/>
          </a:solidFill>
          <a:ln/>
        </p:spPr>
      </p:sp>
      <p:sp>
        <p:nvSpPr>
          <p:cNvPr id="48" name="Text 46"/>
          <p:cNvSpPr/>
          <p:nvPr/>
        </p:nvSpPr>
        <p:spPr>
          <a:xfrm>
            <a:off x="9884664" y="480060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−7,5 pts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5720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Ré-achat : 0 % en 2023 → 3,41 % en 2024 — la fidélisation démarre.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Évolution mensuelle du chiffre d'affaires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001000" y="173736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F7F2E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 : le plus grand écart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0" y="22860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 passe d'environ 1 050 € (2023) à 2 607 € (2024), soit près de +150 %.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01000" y="402336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B0532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4206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Creux de novembre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0" y="45720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repli observé les deux années s'explique surtout par une baisse du prix moyen par article, et non par le volume de ventes.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explique la croissance 2024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7F2E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commandes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20440" y="18288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→ 183 commandes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828800"/>
            <a:ext cx="5166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principal : près du double d'articles vendus en 2024.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7F2E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260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20440" y="29260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81,06 € → 85,61 €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926080"/>
            <a:ext cx="5166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Contribue positivement mais dans une moindre mesure que le volume.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7F2E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0233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0440" y="40233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4 064 € → 8 108 €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4023360"/>
            <a:ext cx="5166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marge progresse au même rythme que le CA : pas de dégradation de rentabilité.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1206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7F2E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1206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 saisonnier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520440" y="51206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Sept. (2023) vs Oct. (2024)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5120640"/>
            <a:ext cx="5166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pic annuel se déplace d'un mois — utile pour caler les campagnes commerciales.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 annuelle du CA est donc conjointe à celle de la marge : la croissance de 2024 ne se fait pas au détriment de la rentabilité.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contributeurs au chiffre d'affaires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965960"/>
          <a:ext cx="36576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29768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MARQUES</a:t>
            </a:r>
            <a:endParaRPr lang="en-US" sz="11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297680" y="1965960"/>
          <a:ext cx="36576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813816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</a:t>
            </a:r>
            <a:endParaRPr lang="en-US" sz="1100" dirty="0"/>
          </a:p>
        </p:txBody>
      </p:sp>
      <p:graphicFrame>
        <p:nvGraphicFramePr>
          <p:cNvPr id="10" name="Chart 2"/>
          <p:cNvGraphicFramePr/>
          <p:nvPr/>
        </p:nvGraphicFramePr>
        <p:xfrm>
          <a:off x="8138160" y="1965960"/>
          <a:ext cx="36576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6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Taux de retour &amp; taux de ré-achat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RETOUR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10312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03504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RÉ-ACHAT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035040" y="210312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6126480"/>
            <a:ext cx="10698480" cy="45720"/>
          </a:xfrm>
          <a:prstGeom prst="roundRect">
            <a:avLst/>
          </a:prstGeom>
          <a:solidFill>
            <a:srgbClr val="ECE2D0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de retour baisse de 7,5 points malgré une forte hausse des ventes ; le ré-achat démarre — deux signaux favorables à consolider.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tableau de bord Power BI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2139696" cy="4114800"/>
          </a:xfrm>
          <a:prstGeom prst="roundRect">
            <a:avLst>
              <a:gd name="adj" fmla="val 4274"/>
            </a:avLst>
          </a:prstGeom>
          <a:solidFill>
            <a:srgbClr val="6D2E46"/>
          </a:solidFill>
          <a:ln/>
        </p:spPr>
      </p:sp>
      <p:sp>
        <p:nvSpPr>
          <p:cNvPr id="5" name="Shape 3"/>
          <p:cNvSpPr/>
          <p:nvPr/>
        </p:nvSpPr>
        <p:spPr>
          <a:xfrm>
            <a:off x="1275588" y="2240280"/>
            <a:ext cx="502920" cy="5029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" name="Text 4"/>
          <p:cNvSpPr/>
          <p:nvPr/>
        </p:nvSpPr>
        <p:spPr>
          <a:xfrm>
            <a:off x="1275588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Généralités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794760"/>
            <a:ext cx="18653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d'ensemble, mode d'emploi et mini-lexique des indicateurs (CA, MB, PM, TR, TM…).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24912" y="1965960"/>
            <a:ext cx="2139696" cy="4114800"/>
          </a:xfrm>
          <a:prstGeom prst="roundRect">
            <a:avLst>
              <a:gd name="adj" fmla="val 4274"/>
            </a:avLst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3543300" y="2240280"/>
            <a:ext cx="502920" cy="5029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1" name="Text 9"/>
          <p:cNvSpPr/>
          <p:nvPr/>
        </p:nvSpPr>
        <p:spPr>
          <a:xfrm>
            <a:off x="35433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2862072" y="29260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Performance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62072" y="3794760"/>
            <a:ext cx="18653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KPI 2023/2024, évolution cumulée et mensuelle du CA, de la marge et du panier moyen.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92624" y="1965960"/>
            <a:ext cx="2139696" cy="4114800"/>
          </a:xfrm>
          <a:prstGeom prst="roundRect">
            <a:avLst>
              <a:gd name="adj" fmla="val 4274"/>
            </a:avLst>
          </a:prstGeom>
          <a:solidFill>
            <a:srgbClr val="6D2E46"/>
          </a:solidFill>
          <a:ln/>
        </p:spPr>
      </p:sp>
      <p:sp>
        <p:nvSpPr>
          <p:cNvPr id="15" name="Shape 13"/>
          <p:cNvSpPr/>
          <p:nvPr/>
        </p:nvSpPr>
        <p:spPr>
          <a:xfrm>
            <a:off x="5811012" y="2240280"/>
            <a:ext cx="502920" cy="5029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6" name="Text 14"/>
          <p:cNvSpPr/>
          <p:nvPr/>
        </p:nvSpPr>
        <p:spPr>
          <a:xfrm>
            <a:off x="5811012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5129784" y="29260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Produits et catégories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9784" y="3794760"/>
            <a:ext cx="18653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et marge brute par marque / catégorie, taux de marge, Top 10 des contributeurs.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0336" y="1965960"/>
            <a:ext cx="2139696" cy="4114800"/>
          </a:xfrm>
          <a:prstGeom prst="roundRect">
            <a:avLst>
              <a:gd name="adj" fmla="val 4274"/>
            </a:avLst>
          </a:prstGeom>
          <a:solidFill>
            <a:srgbClr val="6D2E46"/>
          </a:solidFill>
          <a:ln/>
        </p:spPr>
      </p:sp>
      <p:sp>
        <p:nvSpPr>
          <p:cNvPr id="20" name="Shape 18"/>
          <p:cNvSpPr/>
          <p:nvPr/>
        </p:nvSpPr>
        <p:spPr>
          <a:xfrm>
            <a:off x="8078724" y="2240280"/>
            <a:ext cx="502920" cy="5029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1" name="Text 19"/>
          <p:cNvSpPr/>
          <p:nvPr/>
        </p:nvSpPr>
        <p:spPr>
          <a:xfrm>
            <a:off x="8078724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397496" y="29260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Opportunités et risques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97496" y="3794760"/>
            <a:ext cx="18653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géographique, Taux de retour croisé au CA/marge, prix moyen par article.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28048" y="1965960"/>
            <a:ext cx="2139696" cy="4114800"/>
          </a:xfrm>
          <a:prstGeom prst="roundRect">
            <a:avLst>
              <a:gd name="adj" fmla="val 4274"/>
            </a:avLst>
          </a:prstGeom>
          <a:solidFill>
            <a:srgbClr val="6D2E4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46436" y="2240280"/>
            <a:ext cx="502920" cy="502920"/>
          </a:xfrm>
          <a:prstGeom prst="ellipse">
            <a:avLst/>
          </a:prstGeom>
          <a:solidFill>
            <a:srgbClr val="3C7A5A"/>
          </a:solidFill>
          <a:ln/>
        </p:spPr>
      </p:sp>
      <p:sp>
        <p:nvSpPr>
          <p:cNvPr id="26" name="Text 24"/>
          <p:cNvSpPr/>
          <p:nvPr/>
        </p:nvSpPr>
        <p:spPr>
          <a:xfrm>
            <a:off x="10346436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9665208" y="29260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telling &amp; recommandations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65208" y="3794760"/>
            <a:ext cx="18653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narrative des enseignements et plan d'action pour la direction e-commerce.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transverses : ville, marque, catégorie — avec réinitialisation en un clic sur chaque page.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Opportunités, risques &amp; recommandations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7F2E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 &amp; RISQUES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43000" y="2395728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Concentrer les efforts sur les catégories/marques à forte marge et fort CA (ex. Outerwear &amp; Coats, The North Face).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143000" y="3264408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les catégories à fort taux de retour (Clothing Sets = 50 %) : qualité, taille, description produit.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06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43000" y="4133088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les villes performantes pour la fidélisation, et les villes à potentiel pour l'acquisition.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074920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43000" y="5001768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 élevé ne garantit pas une marge élevée : toujours croiser CA + marge avant d'investir.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828800"/>
            <a:ext cx="5532120" cy="4206240"/>
          </a:xfrm>
          <a:prstGeom prst="roundRect">
            <a:avLst>
              <a:gd name="adj" fmla="val 2174"/>
            </a:avLst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PRIORITAIRES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2468880"/>
            <a:ext cx="292608" cy="29260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32" dirty="0"/>
          </a:p>
        </p:txBody>
      </p:sp>
      <p:sp>
        <p:nvSpPr>
          <p:cNvPr id="23" name="Text 21"/>
          <p:cNvSpPr/>
          <p:nvPr/>
        </p:nvSpPr>
        <p:spPr>
          <a:xfrm>
            <a:off x="6903720" y="241401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la croissance par le couple CA + marge, pas par le CA seul.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3337560"/>
            <a:ext cx="292608" cy="29260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337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32" dirty="0"/>
          </a:p>
        </p:txBody>
      </p:sp>
      <p:sp>
        <p:nvSpPr>
          <p:cNvPr id="26" name="Text 24"/>
          <p:cNvSpPr/>
          <p:nvPr/>
        </p:nvSpPr>
        <p:spPr>
          <a:xfrm>
            <a:off x="6903720" y="328269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Poursuivre la baisse du taux de retour (analyse taille, qualité, description).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4206240"/>
            <a:ext cx="292608" cy="29260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206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6903720" y="415137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le panier moyen : cross-selling, bundles, seuil de livraison gratuite.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46520" y="5074920"/>
            <a:ext cx="292608" cy="29260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6903720" y="502005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Concentrer les investissements marketing sur les zones à potentiel confirmé.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Notes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confirme une amélioration globale de la performance commerciale : le CA, la marge et le nombre de commandes progressent conjointement, tandis que le taux de retour recule et que le ré-achat démarre.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852160" cy="2514600"/>
          </a:xfrm>
          <a:prstGeom prst="roundRect">
            <a:avLst>
              <a:gd name="adj" fmla="val 3636"/>
            </a:avLst>
          </a:prstGeom>
          <a:solidFill>
            <a:srgbClr val="F7F2E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03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vigilance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Anomalies temporelles documentées, non supprimées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financiers basés strictement sur les lignes Complete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Toute différence Python / SQL doit </a:t>
            </a:r>
            <a:r>
              <a:rPr lang="en-US" sz="1250" dirty="0" err="1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</a:t>
            </a:r>
            <a:r>
              <a:rPr lang="en-US" sz="12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examinée</a:t>
            </a:r>
            <a:r>
              <a:rPr lang="en-US" sz="12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2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généralement</a:t>
            </a:r>
            <a:r>
              <a:rPr lang="en-US" sz="12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due à   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 mise à jour de la source de données.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0" y="1828800"/>
            <a:ext cx="5029200" cy="4206240"/>
          </a:xfrm>
          <a:prstGeom prst="roundRect">
            <a:avLst>
              <a:gd name="adj" fmla="val 2174"/>
            </a:avLst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20116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2514600"/>
            <a:ext cx="457200" cy="45720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4380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43800" y="2770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15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</a:t>
            </a: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KPI en SQL sur BigQuery et la reconstruction du sous-</a:t>
            </a:r>
            <a:r>
              <a:rPr lang="en-US" sz="115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</a:t>
            </a: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</a:t>
            </a: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réalisés</a:t>
            </a: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15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insérées</a:t>
            </a: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 note python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49440" y="3657600"/>
            <a:ext cx="457200" cy="45720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43800" y="3611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43800" y="3913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tableaux de bord Power BI </a:t>
            </a:r>
            <a:r>
              <a:rPr lang="en-US" sz="115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</a:t>
            </a: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</a:t>
            </a: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</a:t>
            </a: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pour la direction e-commerce.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0" y="4800600"/>
            <a:ext cx="457200" cy="45720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43800" y="4754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43800" y="5056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suite il </a:t>
            </a:r>
            <a:r>
              <a:rPr lang="en-US" sz="115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faudrait</a:t>
            </a: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faire un </a:t>
            </a:r>
            <a:r>
              <a:rPr lang="en-US" sz="115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périodique des KPIs et ajustement des recommandations commerciales.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217920" cy="6217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2926080" cy="0"/>
          </a:xfrm>
          <a:prstGeom prst="line">
            <a:avLst/>
          </a:prstGeom>
          <a:noFill/>
          <a:ln w="25400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de formation Data Analyst — Centre DATAGONG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e-commerce TheLook Europe — France · Women · 2023-2024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1686</Words>
  <Application>Microsoft Office PowerPoint</Application>
  <PresentationFormat>Grand écran</PresentationFormat>
  <Paragraphs>288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LIMALEBA Germain</dc:creator>
  <cp:lastModifiedBy>HP 850 G7</cp:lastModifiedBy>
  <cp:revision>5</cp:revision>
  <dcterms:created xsi:type="dcterms:W3CDTF">2026-08-10T20:39:10Z</dcterms:created>
  <dcterms:modified xsi:type="dcterms:W3CDTF">2026-08-10T21:25:56Z</dcterms:modified>
</cp:coreProperties>
</file>