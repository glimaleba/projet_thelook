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13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 des lignes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A2226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Shipped</c:v>
                </c:pt>
                <c:pt idx="1">
                  <c:v>Complete</c:v>
                </c:pt>
                <c:pt idx="2">
                  <c:v>Processing</c:v>
                </c:pt>
                <c:pt idx="3">
                  <c:v>Cancelled</c:v>
                </c:pt>
                <c:pt idx="4">
                  <c:v>Returned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29.6</c:v>
                </c:pt>
                <c:pt idx="1">
                  <c:v>25.3</c:v>
                </c:pt>
                <c:pt idx="2">
                  <c:v>18.2</c:v>
                </c:pt>
                <c:pt idx="3">
                  <c:v>14.3</c:v>
                </c:pt>
                <c:pt idx="4">
                  <c:v>12.6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F7-4DFA-822C-EEEAEB73DE3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2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ln w="31750" cap="flat">
              <a:solidFill>
                <a:srgbClr val="A2676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A26769"/>
              </a:solidFill>
              <a:ln w="9525" cap="flat">
                <a:solidFill>
                  <a:srgbClr val="A26769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375.6</c:v>
                </c:pt>
                <c:pt idx="1">
                  <c:v>259.60000000000002</c:v>
                </c:pt>
                <c:pt idx="2">
                  <c:v>299.10000000000002</c:v>
                </c:pt>
                <c:pt idx="3">
                  <c:v>423.3</c:v>
                </c:pt>
                <c:pt idx="4">
                  <c:v>938.8</c:v>
                </c:pt>
                <c:pt idx="5">
                  <c:v>470.2</c:v>
                </c:pt>
                <c:pt idx="6">
                  <c:v>215</c:v>
                </c:pt>
                <c:pt idx="7">
                  <c:v>663.2</c:v>
                </c:pt>
                <c:pt idx="8">
                  <c:v>1486.1</c:v>
                </c:pt>
                <c:pt idx="9">
                  <c:v>1049.9000000000001</c:v>
                </c:pt>
                <c:pt idx="10">
                  <c:v>718.6</c:v>
                </c:pt>
                <c:pt idx="11">
                  <c:v>882.1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4E1-4B1F-AB2E-C376064E2C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6D2E4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D2E46"/>
              </a:solidFill>
              <a:ln w="9525" cap="flat">
                <a:solidFill>
                  <a:srgbClr val="6D2E46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945.7</c:v>
                </c:pt>
                <c:pt idx="1">
                  <c:v>771.4</c:v>
                </c:pt>
                <c:pt idx="2">
                  <c:v>1108.8</c:v>
                </c:pt>
                <c:pt idx="3">
                  <c:v>926.5</c:v>
                </c:pt>
                <c:pt idx="4">
                  <c:v>985.3</c:v>
                </c:pt>
                <c:pt idx="5">
                  <c:v>1566.4</c:v>
                </c:pt>
                <c:pt idx="6">
                  <c:v>991.8</c:v>
                </c:pt>
                <c:pt idx="7">
                  <c:v>1331.1</c:v>
                </c:pt>
                <c:pt idx="8">
                  <c:v>1547.7</c:v>
                </c:pt>
                <c:pt idx="9">
                  <c:v>2607</c:v>
                </c:pt>
                <c:pt idx="10">
                  <c:v>1002</c:v>
                </c:pt>
                <c:pt idx="11">
                  <c:v>1883.4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4E1-4B1F-AB2E-C376064E2C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22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CE2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2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222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 (€)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A2226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Outerwear &amp; Coats</c:v>
                </c:pt>
                <c:pt idx="1">
                  <c:v>Intimates</c:v>
                </c:pt>
                <c:pt idx="2">
                  <c:v>Jeans</c:v>
                </c:pt>
                <c:pt idx="3">
                  <c:v>Sweaters</c:v>
                </c:pt>
                <c:pt idx="4">
                  <c:v>Hoodies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3148</c:v>
                </c:pt>
                <c:pt idx="1">
                  <c:v>2259</c:v>
                </c:pt>
                <c:pt idx="2">
                  <c:v>2024</c:v>
                </c:pt>
                <c:pt idx="3">
                  <c:v>1827</c:v>
                </c:pt>
                <c:pt idx="4">
                  <c:v>1785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CA-4866-92DC-0D53976920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A22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 (€)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A2226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The North Face</c:v>
                </c:pt>
                <c:pt idx="1">
                  <c:v>PAIGE</c:v>
                </c:pt>
                <c:pt idx="2">
                  <c:v>Arc'teryx</c:v>
                </c:pt>
                <c:pt idx="3">
                  <c:v>Jones New York</c:v>
                </c:pt>
                <c:pt idx="4">
                  <c:v>Ray-Ban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1211</c:v>
                </c:pt>
                <c:pt idx="1">
                  <c:v>801</c:v>
                </c:pt>
                <c:pt idx="2">
                  <c:v>620</c:v>
                </c:pt>
                <c:pt idx="3">
                  <c:v>517</c:v>
                </c:pt>
                <c:pt idx="4">
                  <c:v>480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E7-4A58-A3E6-16594971F55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A22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 (€)</c:v>
                </c:pt>
              </c:strCache>
            </c:strRef>
          </c:tx>
          <c:spPr>
            <a:solidFill>
              <a:srgbClr val="4A1F3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A2226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Paris</c:v>
                </c:pt>
                <c:pt idx="1">
                  <c:v>Locon</c:v>
                </c:pt>
                <c:pt idx="2">
                  <c:v>Vandœuvre-lès-Nancy</c:v>
                </c:pt>
                <c:pt idx="3">
                  <c:v>Lyon</c:v>
                </c:pt>
                <c:pt idx="4">
                  <c:v>Brignoles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950</c:v>
                </c:pt>
                <c:pt idx="1">
                  <c:v>903</c:v>
                </c:pt>
                <c:pt idx="2">
                  <c:v>823</c:v>
                </c:pt>
                <c:pt idx="3">
                  <c:v>536</c:v>
                </c:pt>
                <c:pt idx="4">
                  <c:v>510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45-418F-8B13-533816D0566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A22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retour (%)</c:v>
                </c:pt>
              </c:strCache>
            </c:strRef>
          </c:tx>
          <c:spPr>
            <a:solidFill>
              <a:srgbClr val="B0532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A34-4A1F-B4B5-18B93E9B2697}"/>
              </c:ext>
            </c:extLst>
          </c:dPt>
          <c:dPt>
            <c:idx val="1"/>
            <c:invertIfNegative val="0"/>
            <c:bubble3D val="0"/>
            <c:spPr>
              <a:solidFill>
                <a:srgbClr val="3C7A5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A34-4A1F-B4B5-18B93E9B2697}"/>
              </c:ext>
            </c:extLst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fr-F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38.03</c:v>
                </c:pt>
                <c:pt idx="1">
                  <c:v>30.5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34-4A1F-B4B5-18B93E9B2697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A22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ré-achat (%)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9F6-4037-BD20-8696700BA183}"/>
              </c:ext>
            </c:extLst>
          </c:dPt>
          <c:dPt>
            <c:idx val="1"/>
            <c:invertIfNegative val="0"/>
            <c:bubble3D val="0"/>
            <c:spPr>
              <a:solidFill>
                <a:srgbClr val="3C7A5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9F6-4037-BD20-8696700BA183}"/>
              </c:ext>
            </c:extLst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2A2226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3.41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9F6-4037-BD20-8696700BA18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A22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7447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4A1F30"/>
          </a:solidFill>
          <a:ln/>
        </p:spPr>
      </p:sp>
      <p:sp>
        <p:nvSpPr>
          <p:cNvPr id="3" name="Shape 1"/>
          <p:cNvSpPr/>
          <p:nvPr/>
        </p:nvSpPr>
        <p:spPr>
          <a:xfrm>
            <a:off x="9052560" y="-2011680"/>
            <a:ext cx="5943600" cy="594360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Shape 2"/>
          <p:cNvSpPr/>
          <p:nvPr/>
        </p:nvSpPr>
        <p:spPr>
          <a:xfrm>
            <a:off x="-2743200" y="5120640"/>
            <a:ext cx="4114800" cy="41148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DE FORMATION — DATA ANALYST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&amp; analyse de la performance e-commerce</a:t>
            </a:r>
            <a:endParaRPr lang="en-US" sz="34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TheLook Europe — France · Département Women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 2023 – 2024 : chiffre d'affaires, marge, panier moyen, retours et ré-achat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2926080" cy="0"/>
          </a:xfrm>
          <a:prstGeom prst="line">
            <a:avLst/>
          </a:prstGeom>
          <a:noFill/>
          <a:ln w="25400">
            <a:solidFill>
              <a:srgbClr val="A267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7091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(EDA)  →  SQL BigQuery (validation)  →  Power BI (restitution)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LIMALEBA Germain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Ingénieur</a:t>
            </a: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Analyst — Centre DATAGONG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Sommaire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2011680" cy="0"/>
          </a:xfrm>
          <a:prstGeom prst="line">
            <a:avLst/>
          </a:prstGeom>
          <a:noFill/>
          <a:ln w="38100">
            <a:solidFill>
              <a:srgbClr val="6D2E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300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problématique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539496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32304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432304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Périmètre, objectifs &amp; KPI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539496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035808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43000" y="3035808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Démarche méthodologique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539496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639312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43000" y="3639312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contrôle qualité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4187952"/>
            <a:ext cx="539496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242816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43000" y="4242816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(statuts, prix)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4791456"/>
            <a:ext cx="539496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463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43000" y="4846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annuels 2023 vs 2024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09360" y="182880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9516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Saisonnalité mensuelle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09360" y="2377440"/>
            <a:ext cx="539496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2432304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995160" y="2432304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contributeurs (marques, catégories, villes)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309360" y="2980944"/>
            <a:ext cx="539496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3035808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995160" y="3035808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Retours &amp; ré-achat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9496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3639312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995160" y="3639312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Power BI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309360" y="4187952"/>
            <a:ext cx="539496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4242816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995160" y="4242816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Opportunités, risques &amp; recommandations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309360" y="4791456"/>
            <a:ext cx="539496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09360" y="48463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995160" y="4846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Notes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&amp; problématique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6675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tant que Data Analyst, la mission consiste à fournir une étude comparative de la performance e-commerce de TheLook Europe, sur le périmètre France — Département Women — années 2023 et 2024.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320040" cy="3200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3832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960120" y="3328416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ont évolué les ventes entre 2023 et 2024 ?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320040" cy="3200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9776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910" dirty="0"/>
          </a:p>
        </p:txBody>
      </p:sp>
      <p:sp>
        <p:nvSpPr>
          <p:cNvPr id="11" name="Text 9"/>
          <p:cNvSpPr/>
          <p:nvPr/>
        </p:nvSpPr>
        <p:spPr>
          <a:xfrm>
            <a:off x="960120" y="3922776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produits, marques et villes portent la performance 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57200" y="4572000"/>
            <a:ext cx="320040" cy="3200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572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960120" y="4517136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retours et le comportement de ré-achat évoluent-ils favorablement ?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57200" y="5166360"/>
            <a:ext cx="320040" cy="3200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5166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910" dirty="0"/>
          </a:p>
        </p:txBody>
      </p:sp>
      <p:sp>
        <p:nvSpPr>
          <p:cNvPr id="17" name="Text 15"/>
          <p:cNvSpPr/>
          <p:nvPr/>
        </p:nvSpPr>
        <p:spPr>
          <a:xfrm>
            <a:off x="960120" y="5111496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Quelles actions concrètes recommander à la direction e-commerce ?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589520" y="1874520"/>
            <a:ext cx="4114800" cy="3977640"/>
          </a:xfrm>
          <a:prstGeom prst="roundRect">
            <a:avLst>
              <a:gd name="adj" fmla="val 2299"/>
            </a:avLst>
          </a:prstGeom>
          <a:solidFill>
            <a:srgbClr val="F7F2EA"/>
          </a:solidFill>
          <a:ln/>
        </p:spPr>
      </p:sp>
      <p:sp>
        <p:nvSpPr>
          <p:cNvPr id="19" name="Text 17"/>
          <p:cNvSpPr/>
          <p:nvPr/>
        </p:nvSpPr>
        <p:spPr>
          <a:xfrm>
            <a:off x="7955280" y="2103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ANALYTIQUE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0" y="265176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49640" y="2651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Python — qualité &amp; tendances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955280" y="342900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4" name="Text 22"/>
          <p:cNvSpPr/>
          <p:nvPr/>
        </p:nvSpPr>
        <p:spPr>
          <a:xfrm>
            <a:off x="79552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549640" y="3429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SQL — BigQuery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55280" y="420624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7" name="Text 25"/>
          <p:cNvSpPr/>
          <p:nvPr/>
        </p:nvSpPr>
        <p:spPr>
          <a:xfrm>
            <a:off x="79552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49640" y="4206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— Power BI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955280" y="5074920"/>
            <a:ext cx="3429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final : éclairer les décisions du management e-commerce à partir de données fiabilisées.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Périmètre, objectifs &amp; KPI retenus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480560" cy="2331720"/>
          </a:xfrm>
          <a:prstGeom prst="roundRect">
            <a:avLst>
              <a:gd name="adj" fmla="val 3922"/>
            </a:avLst>
          </a:prstGeom>
          <a:solidFill>
            <a:srgbClr val="F7F2E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11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DE L'ÉTUDE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286000" y="2423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286000" y="28346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246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28600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01/01/2023 → 31/12/2024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31520" y="36576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 vérité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286000" y="3657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bigquery-public-data.thelook_ecommerce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4480560" cy="1737360"/>
          </a:xfrm>
          <a:prstGeom prst="roundRect">
            <a:avLst>
              <a:gd name="adj" fmla="val 5263"/>
            </a:avLst>
          </a:prstGeom>
          <a:solidFill>
            <a:srgbClr val="6D2E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52628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« COMPLETE » = vente réalisée retenue pour le CA, la marge et le panier moyen.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Retours mesurés sur Complete + Returned.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25780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SUIVIS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57800" y="2313432"/>
            <a:ext cx="128016" cy="128016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9" name="Text 17"/>
          <p:cNvSpPr/>
          <p:nvPr/>
        </p:nvSpPr>
        <p:spPr>
          <a:xfrm>
            <a:off x="5532120" y="224028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 — Σ sale_price (Complete)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257800" y="2788920"/>
            <a:ext cx="128016" cy="128016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1" name="Text 19"/>
          <p:cNvSpPr/>
          <p:nvPr/>
        </p:nvSpPr>
        <p:spPr>
          <a:xfrm>
            <a:off x="5532120" y="2715768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brute — Σ (sale_price − cost)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257800" y="3264408"/>
            <a:ext cx="128016" cy="128016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3" name="Text 21"/>
          <p:cNvSpPr/>
          <p:nvPr/>
        </p:nvSpPr>
        <p:spPr>
          <a:xfrm>
            <a:off x="5532120" y="3191256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moyen — CA / commandes distinctes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257800" y="3739896"/>
            <a:ext cx="128016" cy="128016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5" name="Text 23"/>
          <p:cNvSpPr/>
          <p:nvPr/>
        </p:nvSpPr>
        <p:spPr>
          <a:xfrm>
            <a:off x="5532120" y="3666744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retour — Returned / (Complete+Returned)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257800" y="4215384"/>
            <a:ext cx="128016" cy="128016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7" name="Text 25"/>
          <p:cNvSpPr/>
          <p:nvPr/>
        </p:nvSpPr>
        <p:spPr>
          <a:xfrm>
            <a:off x="5532120" y="4142232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ré-achat — clients ≥2 commandes / an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257800" y="4709160"/>
            <a:ext cx="6446520" cy="1371600"/>
          </a:xfrm>
          <a:prstGeom prst="roundRect">
            <a:avLst>
              <a:gd name="adj" fmla="val 6667"/>
            </a:avLst>
          </a:prstGeom>
          <a:solidFill>
            <a:srgbClr val="F7F2EA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0" y="4892040"/>
            <a:ext cx="5897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temporelle : la date de référence pour la performance commerciale est delivered_at. Les contrôles qualité portent sur l'ensemble des dates, sans suppression arbitraire des anomalies.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démarche en trois étapes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7F2EA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423160"/>
            <a:ext cx="685800" cy="68580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231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Python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Chargement du CSV, dictionnaire de données, contrôle qualité, distributions, contributions et saisonnalité.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995928" y="3703320"/>
            <a:ext cx="274320" cy="32004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210312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7F2EA"/>
          </a:solidFill>
          <a:ln/>
        </p:spPr>
      </p:sp>
      <p:sp>
        <p:nvSpPr>
          <p:cNvPr id="12" name="Shape 10"/>
          <p:cNvSpPr/>
          <p:nvPr/>
        </p:nvSpPr>
        <p:spPr>
          <a:xfrm>
            <a:off x="4617720" y="2423160"/>
            <a:ext cx="685800" cy="6858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4231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4572000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SQL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572000" y="384048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 des KPI dans BigQuery sur la source de vérité pour fiabiliser les résultats de l'EDA.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836408" y="3703320"/>
            <a:ext cx="274320" cy="32004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7" name="Shape 15"/>
          <p:cNvSpPr/>
          <p:nvPr/>
        </p:nvSpPr>
        <p:spPr>
          <a:xfrm>
            <a:off x="8138160" y="210312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7F2EA"/>
          </a:solidFill>
          <a:ln/>
        </p:spPr>
      </p:sp>
      <p:sp>
        <p:nvSpPr>
          <p:cNvPr id="18" name="Shape 16"/>
          <p:cNvSpPr/>
          <p:nvPr/>
        </p:nvSpPr>
        <p:spPr>
          <a:xfrm>
            <a:off x="8458200" y="2423160"/>
            <a:ext cx="685800" cy="685800"/>
          </a:xfrm>
          <a:prstGeom prst="ellipse">
            <a:avLst/>
          </a:prstGeom>
          <a:solidFill>
            <a:srgbClr val="4A1F30"/>
          </a:solidFill>
          <a:ln/>
        </p:spPr>
      </p:sp>
      <p:sp>
        <p:nvSpPr>
          <p:cNvPr id="19" name="Text 17"/>
          <p:cNvSpPr/>
          <p:nvPr/>
        </p:nvSpPr>
        <p:spPr>
          <a:xfrm>
            <a:off x="8458200" y="24231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8412480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412480" y="384048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interactive : suivi des KPI, comparaison 2023/2024, exploration par marque, catégorie et ville.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présente la première étape (EDA Python) et sa transition vers le tableau de bord Power BI final.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jeu de données &amp; son contrôle qualité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566160" cy="4160520"/>
          </a:xfrm>
          <a:prstGeom prst="roundRect">
            <a:avLst>
              <a:gd name="adj" fmla="val 2564"/>
            </a:avLst>
          </a:prstGeom>
          <a:solidFill>
            <a:srgbClr val="6D2E4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1488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1 679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d'articles de commande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3429000"/>
            <a:ext cx="1371600" cy="0"/>
          </a:xfrm>
          <a:prstGeom prst="line">
            <a:avLst/>
          </a:prstGeom>
          <a:noFill/>
          <a:ln w="12700">
            <a:solidFill>
              <a:srgbClr val="A267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611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(identifiants, dates, statuts, prix, géographie)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9377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ligne = 1 article de commande (order_item_id)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correspond pas au nombre de commandes.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1874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CONTRÔLES QUALITÉ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2331720"/>
            <a:ext cx="384048" cy="38404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2331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15" name="Text 13"/>
          <p:cNvSpPr/>
          <p:nvPr/>
        </p:nvSpPr>
        <p:spPr>
          <a:xfrm>
            <a:off x="4846320" y="2304288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624328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Analysées colonne par </a:t>
            </a:r>
            <a:r>
              <a:rPr lang="en-US" sz="1200" dirty="0" err="1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</a:t>
            </a: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200" dirty="0" err="1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delivered_at</a:t>
            </a: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62,12%, </a:t>
            </a:r>
            <a:r>
              <a:rPr lang="en-US" sz="1200" dirty="0" err="1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shipped_at</a:t>
            </a: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32,52%, brand 0,12%), documentées sans suppression.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97680" y="3264408"/>
            <a:ext cx="384048" cy="38404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0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19" name="Text 17"/>
          <p:cNvSpPr/>
          <p:nvPr/>
        </p:nvSpPr>
        <p:spPr>
          <a:xfrm>
            <a:off x="4846320" y="3236976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3557016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de lignes entièrement dupliquées sur le jeu de données ; pas de </a:t>
            </a:r>
            <a:r>
              <a:rPr lang="en-US" sz="1200" dirty="0" err="1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doublons</a:t>
            </a: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4197096"/>
            <a:ext cx="384048" cy="38404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2" name="Text 20"/>
          <p:cNvSpPr/>
          <p:nvPr/>
        </p:nvSpPr>
        <p:spPr>
          <a:xfrm>
            <a:off x="4297680" y="41970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23" name="Text 21"/>
          <p:cNvSpPr/>
          <p:nvPr/>
        </p:nvSpPr>
        <p:spPr>
          <a:xfrm>
            <a:off x="4846320" y="4169664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de dates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4489704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colonnes date converties d'object vers datetime (item_created_at, order_created_at, shipped_at, delivered_at).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5129784"/>
            <a:ext cx="384048" cy="38404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6" name="Text 24"/>
          <p:cNvSpPr/>
          <p:nvPr/>
        </p:nvSpPr>
        <p:spPr>
          <a:xfrm>
            <a:off x="4297680" y="51297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92" dirty="0"/>
          </a:p>
        </p:txBody>
      </p:sp>
      <p:sp>
        <p:nvSpPr>
          <p:cNvPr id="27" name="Text 25"/>
          <p:cNvSpPr/>
          <p:nvPr/>
        </p:nvSpPr>
        <p:spPr>
          <a:xfrm>
            <a:off x="4846320" y="5102352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temporelle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46320" y="5422392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croisés : article créé après </a:t>
            </a:r>
            <a:r>
              <a:rPr lang="en-US" sz="1200" dirty="0" err="1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</a:t>
            </a: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(775) / </a:t>
            </a:r>
            <a:r>
              <a:rPr lang="en-US" sz="1200" dirty="0" err="1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expédition</a:t>
            </a: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(375) / livraison(63) ; livraison avant </a:t>
            </a:r>
            <a:r>
              <a:rPr lang="en-US" sz="1200" dirty="0" err="1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expédition</a:t>
            </a: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(0).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297680" y="5989320"/>
            <a:ext cx="7406640" cy="548640"/>
          </a:xfrm>
          <a:prstGeom prst="roundRect">
            <a:avLst>
              <a:gd name="adj" fmla="val 13333"/>
            </a:avLst>
          </a:prstGeom>
          <a:solidFill>
            <a:srgbClr val="F7F2EA"/>
          </a:solidFill>
          <a:ln/>
        </p:spPr>
      </p:sp>
      <p:sp>
        <p:nvSpPr>
          <p:cNvPr id="30" name="Text 28"/>
          <p:cNvSpPr/>
          <p:nvPr/>
        </p:nvSpPr>
        <p:spPr>
          <a:xfrm>
            <a:off x="4480560" y="598932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retenu : les anomalies sont documentées, jamais supprimées arbitrairement — traçabilité CSV → Python → SQL → Power BI.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Répartition des statuts des articles</a:t>
            </a:r>
            <a:endParaRPr lang="en-US" sz="3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737360"/>
          <a:ext cx="56692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6400800" y="1920240"/>
            <a:ext cx="5303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29,6 % des lignes sont Shipped et 25,3 % Complete ; Cancelled + Returned représentent près de 27 % des lignes, un niveau non négligeable d'échecs de vente.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0" y="3246120"/>
            <a:ext cx="5303520" cy="1371600"/>
          </a:xfrm>
          <a:prstGeom prst="roundRect">
            <a:avLst>
              <a:gd name="adj" fmla="val 6667"/>
            </a:avLst>
          </a:prstGeom>
          <a:solidFill>
            <a:srgbClr val="B0532A"/>
          </a:solidFill>
          <a:ln/>
        </p:spPr>
      </p:sp>
      <p:sp>
        <p:nvSpPr>
          <p:cNvPr id="8" name="Text 5"/>
          <p:cNvSpPr/>
          <p:nvPr/>
        </p:nvSpPr>
        <p:spPr>
          <a:xfrm>
            <a:off x="6629400" y="3383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Point de vigilance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29400" y="370332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catégorie « Clothing Sets » affiche 50 % de taux de retour, avec 0 % en Shipped/Complete : un signal fort à remonter aux équipes métier.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0" y="4800600"/>
            <a:ext cx="5303520" cy="1417320"/>
          </a:xfrm>
          <a:prstGeom prst="roundRect">
            <a:avLst>
              <a:gd name="adj" fmla="val 6452"/>
            </a:avLst>
          </a:prstGeom>
          <a:solidFill>
            <a:srgbClr val="F7F2EA"/>
          </a:solidFill>
          <a:ln/>
        </p:spPr>
      </p:sp>
      <p:sp>
        <p:nvSpPr>
          <p:cNvPr id="11" name="Text 8"/>
          <p:cNvSpPr/>
          <p:nvPr/>
        </p:nvSpPr>
        <p:spPr>
          <a:xfrm>
            <a:off x="6629400" y="49377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Marques &amp; villes à surveiller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629400" y="525780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marques à 100 % d'annulation (97 ≥ 50 %) · 45 marques à 100 % de retour (79 ≥ 50 %) · 44 villes à 100 % d'annulation, 36 à 100 % de retour.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du prix de vente (lignes Complete)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243584" cy="1234440"/>
          </a:xfrm>
          <a:prstGeom prst="roundRect">
            <a:avLst>
              <a:gd name="adj" fmla="val 6667"/>
            </a:avLst>
          </a:prstGeom>
          <a:solidFill>
            <a:srgbClr val="F7F2EA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87452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55,43 €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23774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24228" y="1737360"/>
            <a:ext cx="1243584" cy="1234440"/>
          </a:xfrm>
          <a:prstGeom prst="roundRect">
            <a:avLst>
              <a:gd name="adj" fmla="val 6667"/>
            </a:avLst>
          </a:prstGeom>
          <a:solidFill>
            <a:srgbClr val="F7F2EA"/>
          </a:solidFill>
          <a:ln/>
        </p:spPr>
      </p:sp>
      <p:sp>
        <p:nvSpPr>
          <p:cNvPr id="9" name="Text 7"/>
          <p:cNvSpPr/>
          <p:nvPr/>
        </p:nvSpPr>
        <p:spPr>
          <a:xfrm>
            <a:off x="1778508" y="187452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36,29 €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778508" y="23774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1256" y="1737360"/>
            <a:ext cx="1243584" cy="1234440"/>
          </a:xfrm>
          <a:prstGeom prst="roundRect">
            <a:avLst>
              <a:gd name="adj" fmla="val 6667"/>
            </a:avLst>
          </a:prstGeom>
          <a:solidFill>
            <a:srgbClr val="F7F2EA"/>
          </a:solidFill>
          <a:ln/>
        </p:spPr>
      </p:sp>
      <p:sp>
        <p:nvSpPr>
          <p:cNvPr id="12" name="Text 10"/>
          <p:cNvSpPr/>
          <p:nvPr/>
        </p:nvSpPr>
        <p:spPr>
          <a:xfrm>
            <a:off x="3145536" y="187452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71,57 €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45536" y="23774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Écart-type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58284" y="1737360"/>
            <a:ext cx="1243584" cy="1234440"/>
          </a:xfrm>
          <a:prstGeom prst="roundRect">
            <a:avLst>
              <a:gd name="adj" fmla="val 6667"/>
            </a:avLst>
          </a:prstGeom>
          <a:solidFill>
            <a:srgbClr val="F7F2EA"/>
          </a:solidFill>
          <a:ln/>
        </p:spPr>
      </p:sp>
      <p:sp>
        <p:nvSpPr>
          <p:cNvPr id="15" name="Text 13"/>
          <p:cNvSpPr/>
          <p:nvPr/>
        </p:nvSpPr>
        <p:spPr>
          <a:xfrm>
            <a:off x="4512564" y="187452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62,50 €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12564" y="23774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(75 %)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25312" y="1737360"/>
            <a:ext cx="1243584" cy="1234440"/>
          </a:xfrm>
          <a:prstGeom prst="roundRect">
            <a:avLst>
              <a:gd name="adj" fmla="val 6667"/>
            </a:avLst>
          </a:prstGeom>
          <a:solidFill>
            <a:srgbClr val="F7F2EA"/>
          </a:solidFill>
          <a:ln/>
        </p:spPr>
      </p:sp>
      <p:sp>
        <p:nvSpPr>
          <p:cNvPr id="18" name="Text 16"/>
          <p:cNvSpPr/>
          <p:nvPr/>
        </p:nvSpPr>
        <p:spPr>
          <a:xfrm>
            <a:off x="5879592" y="187452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903 €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879592" y="23774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64922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moyenne (55,43 €) est nettement supérieure à la médiane (36,29 €) : la distribution est asymétrique à droite, tirée par un petit nombre de ventes très élevées (jusqu'à 903 €). 75 % des ventes restent sous 62,50 €.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6492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méthodologique : le panier moyen doit être lu avec la médiane et les quartiles, la moyenne étant fortement influencée par les valeurs extrêmes. Le même constat s'applique à la variable « cost ».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0" y="1737360"/>
            <a:ext cx="4389120" cy="4206240"/>
          </a:xfrm>
          <a:prstGeom prst="roundRect">
            <a:avLst>
              <a:gd name="adj" fmla="val 2174"/>
            </a:avLst>
          </a:prstGeom>
          <a:solidFill>
            <a:srgbClr val="4A1F30"/>
          </a:solidFill>
          <a:ln/>
        </p:spPr>
      </p:sp>
      <p:sp>
        <p:nvSpPr>
          <p:cNvPr id="23" name="Text 21"/>
          <p:cNvSpPr/>
          <p:nvPr/>
        </p:nvSpPr>
        <p:spPr>
          <a:xfrm>
            <a:off x="7589520" y="1920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VISUELLE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0" y="3840480"/>
            <a:ext cx="374904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66760" y="3520440"/>
            <a:ext cx="1263015" cy="640080"/>
          </a:xfrm>
          <a:prstGeom prst="rect">
            <a:avLst/>
          </a:prstGeom>
          <a:solidFill>
            <a:srgbClr val="A2676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50866" y="3520440"/>
            <a:ext cx="0" cy="64008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0990" y="3840480"/>
            <a:ext cx="0" cy="0"/>
          </a:xfrm>
          <a:prstGeom prst="line">
            <a:avLst/>
          </a:prstGeom>
          <a:noFill/>
          <a:ln w="12700">
            <a:solidFill>
              <a:srgbClr val="ECE2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47946" y="42519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36,29 €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66760" y="3246120"/>
            <a:ext cx="1263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995660" y="3611880"/>
            <a:ext cx="91440" cy="91440"/>
          </a:xfrm>
          <a:prstGeom prst="ellipse">
            <a:avLst/>
          </a:prstGeom>
          <a:solidFill>
            <a:srgbClr val="B0532A"/>
          </a:solidFill>
          <a:ln/>
        </p:spPr>
      </p:sp>
      <p:sp>
        <p:nvSpPr>
          <p:cNvPr id="31" name="Text 29"/>
          <p:cNvSpPr/>
          <p:nvPr/>
        </p:nvSpPr>
        <p:spPr>
          <a:xfrm>
            <a:off x="7589520" y="50292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extrêmes → jusqu'à 903 €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9520" y="5440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(échelle compressée pour lisibilité — boxplot complet disponible dans le notebook)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ANNUELS — 2023 VS 2024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performance en nette progression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2157984" cy="3931920"/>
          </a:xfrm>
          <a:prstGeom prst="roundRect">
            <a:avLst>
              <a:gd name="adj" fmla="val 4237"/>
            </a:avLst>
          </a:prstGeom>
          <a:solidFill>
            <a:srgbClr val="6D2E46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148840"/>
            <a:ext cx="1883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283464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306324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7 781 €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4360" y="3703320"/>
            <a:ext cx="1883664" cy="0"/>
          </a:xfrm>
          <a:prstGeom prst="line">
            <a:avLst/>
          </a:prstGeom>
          <a:noFill/>
          <a:ln w="9525">
            <a:solidFill>
              <a:srgbClr val="A267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84048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406908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15 667 €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4360" y="4800600"/>
            <a:ext cx="1883664" cy="502920"/>
          </a:xfrm>
          <a:prstGeom prst="roundRect">
            <a:avLst>
              <a:gd name="adj" fmla="val 14545"/>
            </a:avLst>
          </a:prstGeom>
          <a:solidFill>
            <a:srgbClr val="8BAE8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80060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+101 %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79776" y="1920240"/>
            <a:ext cx="2157984" cy="3931920"/>
          </a:xfrm>
          <a:prstGeom prst="roundRect">
            <a:avLst>
              <a:gd name="adj" fmla="val 4237"/>
            </a:avLst>
          </a:prstGeom>
          <a:solidFill>
            <a:srgbClr val="6D2E46"/>
          </a:solidFill>
          <a:ln/>
        </p:spPr>
      </p:sp>
      <p:sp>
        <p:nvSpPr>
          <p:cNvPr id="14" name="Text 12"/>
          <p:cNvSpPr/>
          <p:nvPr/>
        </p:nvSpPr>
        <p:spPr>
          <a:xfrm>
            <a:off x="2916936" y="2148840"/>
            <a:ext cx="1883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BRUTE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916936" y="283464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16936" y="306324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4 064 €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2916936" y="3703320"/>
            <a:ext cx="1883664" cy="0"/>
          </a:xfrm>
          <a:prstGeom prst="line">
            <a:avLst/>
          </a:prstGeom>
          <a:noFill/>
          <a:ln w="9525">
            <a:solidFill>
              <a:srgbClr val="A267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16936" y="384048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16936" y="406908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8 108 €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2916936" y="4800600"/>
            <a:ext cx="1883664" cy="502920"/>
          </a:xfrm>
          <a:prstGeom prst="roundRect">
            <a:avLst>
              <a:gd name="adj" fmla="val 14545"/>
            </a:avLst>
          </a:prstGeom>
          <a:solidFill>
            <a:srgbClr val="8BAE8B"/>
          </a:solidFill>
          <a:ln/>
        </p:spPr>
      </p:sp>
      <p:sp>
        <p:nvSpPr>
          <p:cNvPr id="21" name="Text 19"/>
          <p:cNvSpPr/>
          <p:nvPr/>
        </p:nvSpPr>
        <p:spPr>
          <a:xfrm>
            <a:off x="2916936" y="480060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+100 %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02352" y="1920240"/>
            <a:ext cx="2157984" cy="3931920"/>
          </a:xfrm>
          <a:prstGeom prst="roundRect">
            <a:avLst>
              <a:gd name="adj" fmla="val 4237"/>
            </a:avLst>
          </a:prstGeom>
          <a:solidFill>
            <a:srgbClr val="6D2E46"/>
          </a:solidFill>
          <a:ln/>
        </p:spPr>
      </p:sp>
      <p:sp>
        <p:nvSpPr>
          <p:cNvPr id="23" name="Text 21"/>
          <p:cNvSpPr/>
          <p:nvPr/>
        </p:nvSpPr>
        <p:spPr>
          <a:xfrm>
            <a:off x="5239512" y="2148840"/>
            <a:ext cx="1883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39512" y="283464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239512" y="306324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5239512" y="3703320"/>
            <a:ext cx="1883664" cy="0"/>
          </a:xfrm>
          <a:prstGeom prst="line">
            <a:avLst/>
          </a:prstGeom>
          <a:noFill/>
          <a:ln w="9525">
            <a:solidFill>
              <a:srgbClr val="A267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39512" y="384048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39512" y="406908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5239512" y="4800600"/>
            <a:ext cx="1883664" cy="502920"/>
          </a:xfrm>
          <a:prstGeom prst="roundRect">
            <a:avLst>
              <a:gd name="adj" fmla="val 14545"/>
            </a:avLst>
          </a:prstGeom>
          <a:solidFill>
            <a:srgbClr val="8BAE8B"/>
          </a:solidFill>
          <a:ln/>
        </p:spPr>
      </p:sp>
      <p:sp>
        <p:nvSpPr>
          <p:cNvPr id="30" name="Text 28"/>
          <p:cNvSpPr/>
          <p:nvPr/>
        </p:nvSpPr>
        <p:spPr>
          <a:xfrm>
            <a:off x="5239512" y="480060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+91 %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424928" y="1920240"/>
            <a:ext cx="2157984" cy="3931920"/>
          </a:xfrm>
          <a:prstGeom prst="roundRect">
            <a:avLst>
              <a:gd name="adj" fmla="val 4237"/>
            </a:avLst>
          </a:prstGeom>
          <a:solidFill>
            <a:srgbClr val="6D2E46"/>
          </a:solidFill>
          <a:ln/>
        </p:spPr>
      </p:sp>
      <p:sp>
        <p:nvSpPr>
          <p:cNvPr id="32" name="Text 30"/>
          <p:cNvSpPr/>
          <p:nvPr/>
        </p:nvSpPr>
        <p:spPr>
          <a:xfrm>
            <a:off x="7562088" y="2148840"/>
            <a:ext cx="1883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MOYEN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62088" y="283464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62088" y="306324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81,06 €</a:t>
            </a:r>
            <a:endParaRPr lang="en-US" sz="1900" dirty="0"/>
          </a:p>
        </p:txBody>
      </p:sp>
      <p:sp>
        <p:nvSpPr>
          <p:cNvPr id="35" name="Shape 33"/>
          <p:cNvSpPr/>
          <p:nvPr/>
        </p:nvSpPr>
        <p:spPr>
          <a:xfrm>
            <a:off x="7562088" y="3703320"/>
            <a:ext cx="1883664" cy="0"/>
          </a:xfrm>
          <a:prstGeom prst="line">
            <a:avLst/>
          </a:prstGeom>
          <a:noFill/>
          <a:ln w="9525">
            <a:solidFill>
              <a:srgbClr val="A267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62088" y="384048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562088" y="406908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85,61 €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7562088" y="4800600"/>
            <a:ext cx="1883664" cy="502920"/>
          </a:xfrm>
          <a:prstGeom prst="roundRect">
            <a:avLst>
              <a:gd name="adj" fmla="val 14545"/>
            </a:avLst>
          </a:prstGeom>
          <a:solidFill>
            <a:srgbClr val="8BAE8B"/>
          </a:solidFill>
          <a:ln/>
        </p:spPr>
      </p:sp>
      <p:sp>
        <p:nvSpPr>
          <p:cNvPr id="39" name="Text 37"/>
          <p:cNvSpPr/>
          <p:nvPr/>
        </p:nvSpPr>
        <p:spPr>
          <a:xfrm>
            <a:off x="7562088" y="480060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+5,6 %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747504" y="1920240"/>
            <a:ext cx="2157984" cy="3931920"/>
          </a:xfrm>
          <a:prstGeom prst="roundRect">
            <a:avLst>
              <a:gd name="adj" fmla="val 4237"/>
            </a:avLst>
          </a:prstGeom>
          <a:solidFill>
            <a:srgbClr val="6D2E46"/>
          </a:solidFill>
          <a:ln/>
        </p:spPr>
      </p:sp>
      <p:sp>
        <p:nvSpPr>
          <p:cNvPr id="41" name="Text 39"/>
          <p:cNvSpPr/>
          <p:nvPr/>
        </p:nvSpPr>
        <p:spPr>
          <a:xfrm>
            <a:off x="9884664" y="2148840"/>
            <a:ext cx="1883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RETOUR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9884664" y="283464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884664" y="306324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38,03 %</a:t>
            </a:r>
            <a:endParaRPr lang="en-US" sz="1900" dirty="0"/>
          </a:p>
        </p:txBody>
      </p:sp>
      <p:sp>
        <p:nvSpPr>
          <p:cNvPr id="44" name="Shape 42"/>
          <p:cNvSpPr/>
          <p:nvPr/>
        </p:nvSpPr>
        <p:spPr>
          <a:xfrm>
            <a:off x="9884664" y="3703320"/>
            <a:ext cx="1883664" cy="0"/>
          </a:xfrm>
          <a:prstGeom prst="line">
            <a:avLst/>
          </a:prstGeom>
          <a:noFill/>
          <a:ln w="9525">
            <a:solidFill>
              <a:srgbClr val="A267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884664" y="3840480"/>
            <a:ext cx="1883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884664" y="406908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30,50 %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9884664" y="4800600"/>
            <a:ext cx="1883664" cy="502920"/>
          </a:xfrm>
          <a:prstGeom prst="roundRect">
            <a:avLst>
              <a:gd name="adj" fmla="val 14545"/>
            </a:avLst>
          </a:prstGeom>
          <a:solidFill>
            <a:srgbClr val="3C7A5A"/>
          </a:solidFill>
          <a:ln/>
        </p:spPr>
      </p:sp>
      <p:sp>
        <p:nvSpPr>
          <p:cNvPr id="48" name="Text 46"/>
          <p:cNvSpPr/>
          <p:nvPr/>
        </p:nvSpPr>
        <p:spPr>
          <a:xfrm>
            <a:off x="9884664" y="4800600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−7,5 pts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457200" y="6080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Ré-achat : 0 % en 2023 → 3,41 % en 2024 — la fidélisation démarre.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Évolution mensuelle du chiffre d'affaires</a:t>
            </a:r>
            <a:endParaRPr lang="en-US" sz="3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737360"/>
          <a:ext cx="73152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8001000" y="1737360"/>
            <a:ext cx="3703320" cy="2148840"/>
          </a:xfrm>
          <a:prstGeom prst="roundRect">
            <a:avLst>
              <a:gd name="adj" fmla="val 4255"/>
            </a:avLst>
          </a:prstGeom>
          <a:solidFill>
            <a:srgbClr val="F7F2E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0" y="19202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Octobre : le plus grand écart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0" y="22860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 passe d'environ 1 050 € (2023) à 2 607 € (2024), soit près de +150 %.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4023360"/>
            <a:ext cx="3703320" cy="2194560"/>
          </a:xfrm>
          <a:prstGeom prst="roundRect">
            <a:avLst>
              <a:gd name="adj" fmla="val 4167"/>
            </a:avLst>
          </a:prstGeom>
          <a:solidFill>
            <a:srgbClr val="B0532A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0" y="42062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Creux de novembre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0" y="457200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repli observé les deux années s'explique surtout par une baisse du prix moyen par article, et non par le volume de ventes.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explique la croissance 2024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7F2E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28800"/>
            <a:ext cx="2743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commandes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20440" y="1828800"/>
            <a:ext cx="2743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→ 183 commandes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828800"/>
            <a:ext cx="5166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Facteur principal : près du double d'articles vendus en 2024.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7F2EA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926080"/>
            <a:ext cx="2743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moyen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520440" y="2926080"/>
            <a:ext cx="2743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81,06 € → 85,61 €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5080" y="2926080"/>
            <a:ext cx="5166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Contribue positivement mais dans une moindre mesure que le volume.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02336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7F2E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023360"/>
            <a:ext cx="2743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brute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520440" y="4023360"/>
            <a:ext cx="2743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4 064 € → 8 108 €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4023360"/>
            <a:ext cx="5166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marge progresse au même rythme que le CA : pas de dégradation de rentabilité.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7F2E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5120640"/>
            <a:ext cx="2743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Rythme saisonnier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520440" y="5120640"/>
            <a:ext cx="2743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Sept. (2023) vs Oct. (2024)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55080" y="5120640"/>
            <a:ext cx="5166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pic annuel se déplace d'un mois — utile pour caler les campagnes commerciales.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progression annuelle du CA est donc conjointe à celle de la marge : la croissance de 2024 ne se fait pas au détriment de la rentabilité.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contributeurs au chiffre d'affaires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CATÉGORIES</a:t>
            </a:r>
            <a:endParaRPr lang="en-US" sz="11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965960"/>
          <a:ext cx="365760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4297680" y="1691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MARQUES</a:t>
            </a:r>
            <a:endParaRPr lang="en-US" sz="1100" dirty="0"/>
          </a:p>
        </p:txBody>
      </p:sp>
      <p:graphicFrame>
        <p:nvGraphicFramePr>
          <p:cNvPr id="8" name="Chart 1"/>
          <p:cNvGraphicFramePr/>
          <p:nvPr/>
        </p:nvGraphicFramePr>
        <p:xfrm>
          <a:off x="4297680" y="1965960"/>
          <a:ext cx="365760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/>
          <p:nvPr/>
        </p:nvSpPr>
        <p:spPr>
          <a:xfrm>
            <a:off x="8138160" y="1691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</a:t>
            </a:r>
            <a:endParaRPr lang="en-US" sz="1100" dirty="0"/>
          </a:p>
        </p:txBody>
      </p:sp>
      <p:graphicFrame>
        <p:nvGraphicFramePr>
          <p:cNvPr id="10" name="Chart 2"/>
          <p:cNvGraphicFramePr/>
          <p:nvPr/>
        </p:nvGraphicFramePr>
        <p:xfrm>
          <a:off x="8138160" y="1965960"/>
          <a:ext cx="365760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 6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FIDÉLISATION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Taux de retour &amp; taux de ré-achat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RETOUR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2103120"/>
          <a:ext cx="51206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6035040" y="1737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RÉ-ACHAT</a:t>
            </a:r>
            <a:endParaRPr lang="en-US" sz="1200" dirty="0"/>
          </a:p>
        </p:txBody>
      </p:sp>
      <p:graphicFrame>
        <p:nvGraphicFramePr>
          <p:cNvPr id="8" name="Chart 1"/>
          <p:cNvGraphicFramePr/>
          <p:nvPr/>
        </p:nvGraphicFramePr>
        <p:xfrm>
          <a:off x="6035040" y="2103120"/>
          <a:ext cx="51206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6126480"/>
            <a:ext cx="10698480" cy="45720"/>
          </a:xfrm>
          <a:prstGeom prst="roundRect">
            <a:avLst/>
          </a:prstGeom>
          <a:solidFill>
            <a:srgbClr val="ECE2D0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taux de retour baisse de 7,5 points malgré une forte hausse des ventes ; le ré-achat démarre — deux signaux favorables à consolider.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A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tableau de bord Power BI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2139696" cy="4114800"/>
          </a:xfrm>
          <a:prstGeom prst="roundRect">
            <a:avLst>
              <a:gd name="adj" fmla="val 4274"/>
            </a:avLst>
          </a:prstGeom>
          <a:solidFill>
            <a:srgbClr val="6D2E46"/>
          </a:solidFill>
          <a:ln/>
        </p:spPr>
      </p:sp>
      <p:sp>
        <p:nvSpPr>
          <p:cNvPr id="5" name="Shape 3"/>
          <p:cNvSpPr/>
          <p:nvPr/>
        </p:nvSpPr>
        <p:spPr>
          <a:xfrm>
            <a:off x="1275588" y="2240280"/>
            <a:ext cx="502920" cy="5029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6" name="Text 4"/>
          <p:cNvSpPr/>
          <p:nvPr/>
        </p:nvSpPr>
        <p:spPr>
          <a:xfrm>
            <a:off x="1275588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30" dirty="0"/>
          </a:p>
        </p:txBody>
      </p:sp>
      <p:sp>
        <p:nvSpPr>
          <p:cNvPr id="7" name="Text 5"/>
          <p:cNvSpPr/>
          <p:nvPr/>
        </p:nvSpPr>
        <p:spPr>
          <a:xfrm>
            <a:off x="594360" y="2926080"/>
            <a:ext cx="18653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Généralités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794760"/>
            <a:ext cx="186537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d'ensemble, mode d'emploi et mini-lexique des indicateurs (CA, MB, PM, TR, TM…).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24912" y="1965960"/>
            <a:ext cx="2139696" cy="4114800"/>
          </a:xfrm>
          <a:prstGeom prst="roundRect">
            <a:avLst>
              <a:gd name="adj" fmla="val 4274"/>
            </a:avLst>
          </a:prstGeom>
          <a:solidFill>
            <a:srgbClr val="6D2E46"/>
          </a:solidFill>
          <a:ln/>
        </p:spPr>
      </p:sp>
      <p:sp>
        <p:nvSpPr>
          <p:cNvPr id="10" name="Shape 8"/>
          <p:cNvSpPr/>
          <p:nvPr/>
        </p:nvSpPr>
        <p:spPr>
          <a:xfrm>
            <a:off x="3543300" y="2240280"/>
            <a:ext cx="502920" cy="5029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1" name="Text 9"/>
          <p:cNvSpPr/>
          <p:nvPr/>
        </p:nvSpPr>
        <p:spPr>
          <a:xfrm>
            <a:off x="3543300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2862072" y="2926080"/>
            <a:ext cx="18653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E-commerce Performance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62072" y="3794760"/>
            <a:ext cx="186537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Cartes KPI 2023/2024, évolution cumulée et mensuelle du CA, de la marge et du panier moyen.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92624" y="1965960"/>
            <a:ext cx="2139696" cy="4114800"/>
          </a:xfrm>
          <a:prstGeom prst="roundRect">
            <a:avLst>
              <a:gd name="adj" fmla="val 4274"/>
            </a:avLst>
          </a:prstGeom>
          <a:solidFill>
            <a:srgbClr val="6D2E46"/>
          </a:solidFill>
          <a:ln/>
        </p:spPr>
      </p:sp>
      <p:sp>
        <p:nvSpPr>
          <p:cNvPr id="15" name="Shape 13"/>
          <p:cNvSpPr/>
          <p:nvPr/>
        </p:nvSpPr>
        <p:spPr>
          <a:xfrm>
            <a:off x="5811012" y="2240280"/>
            <a:ext cx="502920" cy="5029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6" name="Text 14"/>
          <p:cNvSpPr/>
          <p:nvPr/>
        </p:nvSpPr>
        <p:spPr>
          <a:xfrm>
            <a:off x="5811012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30" dirty="0"/>
          </a:p>
        </p:txBody>
      </p:sp>
      <p:sp>
        <p:nvSpPr>
          <p:cNvPr id="17" name="Text 15"/>
          <p:cNvSpPr/>
          <p:nvPr/>
        </p:nvSpPr>
        <p:spPr>
          <a:xfrm>
            <a:off x="5129784" y="2926080"/>
            <a:ext cx="18653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Produits et catégories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9784" y="3794760"/>
            <a:ext cx="186537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et marge brute par marque / catégorie, taux de marge, Top 10 des contributeurs.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60336" y="1965960"/>
            <a:ext cx="2139696" cy="4114800"/>
          </a:xfrm>
          <a:prstGeom prst="roundRect">
            <a:avLst>
              <a:gd name="adj" fmla="val 4274"/>
            </a:avLst>
          </a:prstGeom>
          <a:solidFill>
            <a:srgbClr val="6D2E46"/>
          </a:solidFill>
          <a:ln/>
        </p:spPr>
      </p:sp>
      <p:sp>
        <p:nvSpPr>
          <p:cNvPr id="20" name="Shape 18"/>
          <p:cNvSpPr/>
          <p:nvPr/>
        </p:nvSpPr>
        <p:spPr>
          <a:xfrm>
            <a:off x="8078724" y="2240280"/>
            <a:ext cx="502920" cy="5029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1" name="Text 19"/>
          <p:cNvSpPr/>
          <p:nvPr/>
        </p:nvSpPr>
        <p:spPr>
          <a:xfrm>
            <a:off x="8078724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30" dirty="0"/>
          </a:p>
        </p:txBody>
      </p:sp>
      <p:sp>
        <p:nvSpPr>
          <p:cNvPr id="22" name="Text 20"/>
          <p:cNvSpPr/>
          <p:nvPr/>
        </p:nvSpPr>
        <p:spPr>
          <a:xfrm>
            <a:off x="7397496" y="2926080"/>
            <a:ext cx="18653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Opportunités et risques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97496" y="3794760"/>
            <a:ext cx="186537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géographique, Taux de retour croisé au CA/marge, prix moyen par article.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28048" y="1965960"/>
            <a:ext cx="2139696" cy="4114800"/>
          </a:xfrm>
          <a:prstGeom prst="roundRect">
            <a:avLst>
              <a:gd name="adj" fmla="val 4274"/>
            </a:avLst>
          </a:prstGeom>
          <a:solidFill>
            <a:srgbClr val="6D2E46"/>
          </a:solidFill>
          <a:ln/>
        </p:spPr>
      </p:sp>
      <p:sp>
        <p:nvSpPr>
          <p:cNvPr id="25" name="Shape 23"/>
          <p:cNvSpPr/>
          <p:nvPr/>
        </p:nvSpPr>
        <p:spPr>
          <a:xfrm>
            <a:off x="10346436" y="2240280"/>
            <a:ext cx="502920" cy="502920"/>
          </a:xfrm>
          <a:prstGeom prst="ellipse">
            <a:avLst/>
          </a:prstGeom>
          <a:solidFill>
            <a:srgbClr val="3C7A5A"/>
          </a:solidFill>
          <a:ln/>
        </p:spPr>
      </p:sp>
      <p:sp>
        <p:nvSpPr>
          <p:cNvPr id="26" name="Text 24"/>
          <p:cNvSpPr/>
          <p:nvPr/>
        </p:nvSpPr>
        <p:spPr>
          <a:xfrm>
            <a:off x="10346436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30" dirty="0"/>
          </a:p>
        </p:txBody>
      </p:sp>
      <p:sp>
        <p:nvSpPr>
          <p:cNvPr id="27" name="Text 25"/>
          <p:cNvSpPr/>
          <p:nvPr/>
        </p:nvSpPr>
        <p:spPr>
          <a:xfrm>
            <a:off x="9665208" y="2926080"/>
            <a:ext cx="18653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telling &amp; recommandations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665208" y="3794760"/>
            <a:ext cx="186537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narrative des enseignements et plan d'action pour la direction e-commerce.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transverses : ville, marque, catégorie — avec réinitialisation en un clic sur chaque page.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Opportunités, risques &amp; recommandations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40680" cy="4206240"/>
          </a:xfrm>
          <a:prstGeom prst="roundRect">
            <a:avLst>
              <a:gd name="adj" fmla="val 2174"/>
            </a:avLst>
          </a:prstGeom>
          <a:solidFill>
            <a:srgbClr val="F7F2E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116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OPPORTUNITÉS &amp; RISQUES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468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1143000" y="2395728"/>
            <a:ext cx="4526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Concentrer les efforts sur les catégories/marques à forte marge et fort CA (ex. Outerwear &amp; Coats, The North Face).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337560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1143000" y="3264408"/>
            <a:ext cx="4526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Surveiller les catégories à fort taux de retour (Clothing Sets = 50 %) : qualité, taille, description produit.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206240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2062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1143000" y="4133088"/>
            <a:ext cx="4526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les villes performantes pour la fidélisation, et les villes à potentiel pour l'acquisition.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5074920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50749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1143000" y="5001768"/>
            <a:ext cx="4526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 élevé ne garantit pas une marge élevée : toujours croiser CA + marge avant d'investir.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174"/>
            </a:avLst>
          </a:prstGeom>
          <a:solidFill>
            <a:srgbClr val="6D2E46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2011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PRIORITAIRES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46520" y="2468880"/>
            <a:ext cx="292608" cy="29260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24688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3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832" dirty="0"/>
          </a:p>
        </p:txBody>
      </p:sp>
      <p:sp>
        <p:nvSpPr>
          <p:cNvPr id="23" name="Text 21"/>
          <p:cNvSpPr/>
          <p:nvPr/>
        </p:nvSpPr>
        <p:spPr>
          <a:xfrm>
            <a:off x="6903720" y="2414016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Piloter la croissance par le couple CA + marge, pas par le CA seul.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3337560"/>
            <a:ext cx="292608" cy="29260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5" name="Text 23"/>
          <p:cNvSpPr/>
          <p:nvPr/>
        </p:nvSpPr>
        <p:spPr>
          <a:xfrm>
            <a:off x="6446520" y="33375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3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32" dirty="0"/>
          </a:p>
        </p:txBody>
      </p:sp>
      <p:sp>
        <p:nvSpPr>
          <p:cNvPr id="26" name="Text 24"/>
          <p:cNvSpPr/>
          <p:nvPr/>
        </p:nvSpPr>
        <p:spPr>
          <a:xfrm>
            <a:off x="6903720" y="3282696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Poursuivre la baisse du taux de retour (analyse taille, qualité, description).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46520" y="4206240"/>
            <a:ext cx="292608" cy="29260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8" name="Text 26"/>
          <p:cNvSpPr/>
          <p:nvPr/>
        </p:nvSpPr>
        <p:spPr>
          <a:xfrm>
            <a:off x="6446520" y="42062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3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832" dirty="0"/>
          </a:p>
        </p:txBody>
      </p:sp>
      <p:sp>
        <p:nvSpPr>
          <p:cNvPr id="29" name="Text 27"/>
          <p:cNvSpPr/>
          <p:nvPr/>
        </p:nvSpPr>
        <p:spPr>
          <a:xfrm>
            <a:off x="6903720" y="4151376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Augmenter le panier moyen : cross-selling, bundles, seuil de livraison gratuite.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46520" y="5074920"/>
            <a:ext cx="292608" cy="29260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50749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3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832" dirty="0"/>
          </a:p>
        </p:txBody>
      </p:sp>
      <p:sp>
        <p:nvSpPr>
          <p:cNvPr id="32" name="Text 30"/>
          <p:cNvSpPr/>
          <p:nvPr/>
        </p:nvSpPr>
        <p:spPr>
          <a:xfrm>
            <a:off x="6903720" y="5020056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Concentrer les investissements marketing sur les zones à potentiel confirmé.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CE2D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Notes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confirme une amélioration globale de la performance commerciale : le CA, la marge et le nombre de commandes progressent conjointement, tandis que le taux de retour recule et que le ré-achat démarre.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852160" cy="2514600"/>
          </a:xfrm>
          <a:prstGeom prst="roundRect">
            <a:avLst>
              <a:gd name="adj" fmla="val 3636"/>
            </a:avLst>
          </a:prstGeom>
          <a:solidFill>
            <a:srgbClr val="F7F2E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703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vigilance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5303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Anomalies temporelles documentées, non supprimées</a:t>
            </a:r>
            <a:endParaRPr lang="en-US" sz="12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KPI financiers basés strictement sur les lignes Complete</a:t>
            </a:r>
            <a:endParaRPr lang="en-US" sz="12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Toute différence Python / SQL doit </a:t>
            </a:r>
            <a:r>
              <a:rPr lang="en-US" sz="1250" dirty="0" err="1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</a:t>
            </a: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examinée</a:t>
            </a: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</a:t>
            </a: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généralement</a:t>
            </a: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due à   </a:t>
            </a:r>
          </a:p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2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la mise à jour de la source de données.</a:t>
            </a:r>
            <a:endParaRPr lang="en-US" sz="1250" dirty="0"/>
          </a:p>
          <a:p>
            <a:pPr marL="0" indent="0">
              <a:lnSpc>
                <a:spcPts val="2000"/>
              </a:lnSpc>
              <a:buNone/>
            </a:pP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75120" y="1828800"/>
            <a:ext cx="5029200" cy="4206240"/>
          </a:xfrm>
          <a:prstGeom prst="roundRect">
            <a:avLst>
              <a:gd name="adj" fmla="val 2174"/>
            </a:avLst>
          </a:prstGeom>
          <a:solidFill>
            <a:srgbClr val="6D2E46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201168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49440" y="251460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43800" y="24688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543800" y="2770632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KPI en SQL sur BigQuery et la reconstruction du sous-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été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réalisés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insérées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le note python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949440" y="365760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43800" y="36118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543800" y="3913632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tableaux de bord Power BI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été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pour la direction e-commerce.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49440" y="480060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47548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543800" y="5056632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suite il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faudrait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faire un </a:t>
            </a:r>
            <a:r>
              <a:rPr lang="en-US" sz="115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</a:t>
            </a: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périodique des KPIs et ajustement des recommandations commerciales.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A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2286000"/>
            <a:ext cx="6217920" cy="62179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échanges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2926080" cy="0"/>
          </a:xfrm>
          <a:prstGeom prst="line">
            <a:avLst/>
          </a:prstGeom>
          <a:noFill/>
          <a:ln w="25400">
            <a:solidFill>
              <a:srgbClr val="A267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de formation Data Analyst — Centre DATAGONG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e-commerce TheLook Europe — France · Women · 2023-2024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1714</Words>
  <Application>Microsoft Office PowerPoint</Application>
  <PresentationFormat>Grand écran</PresentationFormat>
  <Paragraphs>288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LIMALEBA Germain</dc:creator>
  <cp:lastModifiedBy>HP 850 G7</cp:lastModifiedBy>
  <cp:revision>7</cp:revision>
  <dcterms:created xsi:type="dcterms:W3CDTF">2026-08-10T20:39:10Z</dcterms:created>
  <dcterms:modified xsi:type="dcterms:W3CDTF">2026-08-11T19:32:33Z</dcterms:modified>
</cp:coreProperties>
</file>